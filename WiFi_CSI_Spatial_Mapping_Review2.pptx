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jpeg"/>
          <p:cNvPicPr>
            <a:picLocks noChangeAspect="1"/>
          </p:cNvPicPr>
          <p:nvPr/>
        </p:nvPicPr>
        <p:blipFill>
          <a:blip r:embed="rId2"/>
          <a:stretch>
            <a:fillRect/>
          </a:stretch>
        </p:blipFill>
        <p:spPr>
          <a:xfrm>
            <a:off x="0" y="0"/>
            <a:ext cx="3429000" cy="5143500"/>
          </a:xfrm>
          <a:prstGeom prst="rect">
            <a:avLst/>
          </a:prstGeom>
        </p:spPr>
      </p:pic>
      <p:sp>
        <p:nvSpPr>
          <p:cNvPr id="4" name="TextBox 3"/>
          <p:cNvSpPr txBox="1"/>
          <p:nvPr/>
        </p:nvSpPr>
        <p:spPr>
          <a:xfrm>
            <a:off x="3840480" y="1051560"/>
            <a:ext cx="5029200" cy="822960"/>
          </a:xfrm>
          <a:prstGeom prst="rect">
            <a:avLst/>
          </a:prstGeom>
          <a:noFill/>
        </p:spPr>
        <p:txBody>
          <a:bodyPr wrap="square" anchor="t" lIns="36576" rIns="36576" tIns="27432" bIns="27432">
            <a:spAutoFit/>
          </a:bodyPr>
          <a:lstStyle/>
          <a:p>
            <a:pPr algn="l"/>
            <a:r>
              <a:rPr sz="3000" b="0" i="0">
                <a:solidFill>
                  <a:srgbClr val="000000"/>
                </a:solidFill>
                <a:latin typeface="Calibri Light"/>
              </a:rPr>
              <a:t>Wi‑Fi CSI Spatial Mapping</a:t>
            </a:r>
          </a:p>
        </p:txBody>
      </p:sp>
      <p:sp>
        <p:nvSpPr>
          <p:cNvPr id="5" name="TextBox 4"/>
          <p:cNvSpPr txBox="1"/>
          <p:nvPr/>
        </p:nvSpPr>
        <p:spPr>
          <a:xfrm>
            <a:off x="3840480" y="1755648"/>
            <a:ext cx="5120640" cy="548640"/>
          </a:xfrm>
          <a:prstGeom prst="rect">
            <a:avLst/>
          </a:prstGeom>
          <a:noFill/>
        </p:spPr>
        <p:txBody>
          <a:bodyPr wrap="square" anchor="t" lIns="36576" rIns="36576" tIns="27432" bIns="27432">
            <a:spAutoFit/>
          </a:bodyPr>
          <a:lstStyle/>
          <a:p>
            <a:pPr algn="l">
              <a:spcAft>
                <a:spcPts val="200"/>
              </a:spcAft>
            </a:pPr>
            <a:r>
              <a:rPr sz="1200" b="0" i="0">
                <a:solidFill>
                  <a:srgbClr val="272525"/>
                </a:solidFill>
                <a:latin typeface="Calibri"/>
              </a:rPr>
              <a:t>Generating indoor floor layouts using Wi‑Fi signals + AI</a:t>
            </a:r>
          </a:p>
          <a:p>
            <a:pPr algn="l"/>
            <a:r>
              <a:rPr sz="1000" b="0" i="0">
                <a:solidFill>
                  <a:srgbClr val="272525"/>
                </a:solidFill>
                <a:latin typeface="Calibri"/>
              </a:rPr>
              <a:t>Low‑cost, privacy‑preserving alternative to LiDAR &amp; cameras</a:t>
            </a:r>
          </a:p>
        </p:txBody>
      </p:sp>
      <p:sp>
        <p:nvSpPr>
          <p:cNvPr id="6" name="Rounded Rectangle 5"/>
          <p:cNvSpPr/>
          <p:nvPr/>
        </p:nvSpPr>
        <p:spPr>
          <a:xfrm>
            <a:off x="3840480" y="2487168"/>
            <a:ext cx="3429000" cy="329184"/>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2542032"/>
            <a:ext cx="3291840" cy="237744"/>
          </a:xfrm>
          <a:prstGeom prst="rect">
            <a:avLst/>
          </a:prstGeom>
          <a:noFill/>
        </p:spPr>
        <p:txBody>
          <a:bodyPr wrap="square" anchor="t" lIns="36576" rIns="36576" tIns="27432" bIns="27432">
            <a:spAutoFit/>
          </a:bodyPr>
          <a:lstStyle/>
          <a:p>
            <a:pPr algn="l"/>
            <a:r>
              <a:rPr sz="1000" b="1" i="0">
                <a:solidFill>
                  <a:srgbClr val="4472C4"/>
                </a:solidFill>
                <a:latin typeface="Calibri"/>
              </a:rPr>
              <a:t>PROGRESS REVIEW 2   ·   PHASES 1–3 COMPLETE</a:t>
            </a:r>
          </a:p>
        </p:txBody>
      </p:sp>
      <p:sp>
        <p:nvSpPr>
          <p:cNvPr id="8" name="TextBox 7"/>
          <p:cNvSpPr txBox="1"/>
          <p:nvPr/>
        </p:nvSpPr>
        <p:spPr>
          <a:xfrm>
            <a:off x="3840480" y="2999232"/>
            <a:ext cx="5120640" cy="219456"/>
          </a:xfrm>
          <a:prstGeom prst="rect">
            <a:avLst/>
          </a:prstGeom>
          <a:noFill/>
        </p:spPr>
        <p:txBody>
          <a:bodyPr wrap="square" anchor="t" lIns="36576" rIns="36576" tIns="27432" bIns="27432">
            <a:spAutoFit/>
          </a:bodyPr>
          <a:lstStyle/>
          <a:p>
            <a:pPr algn="l"/>
            <a:r>
              <a:rPr sz="1000" b="1" i="0">
                <a:solidFill>
                  <a:srgbClr val="8A8A8A"/>
                </a:solidFill>
                <a:latin typeface="Calibri"/>
              </a:rPr>
              <a:t>TEAM</a:t>
            </a:r>
          </a:p>
        </p:txBody>
      </p:sp>
      <p:sp>
        <p:nvSpPr>
          <p:cNvPr id="9" name="TextBox 8"/>
          <p:cNvSpPr txBox="1"/>
          <p:nvPr/>
        </p:nvSpPr>
        <p:spPr>
          <a:xfrm>
            <a:off x="3840480" y="3218688"/>
            <a:ext cx="5120640" cy="1188720"/>
          </a:xfrm>
          <a:prstGeom prst="rect">
            <a:avLst/>
          </a:prstGeom>
          <a:noFill/>
        </p:spPr>
        <p:txBody>
          <a:bodyPr wrap="square" anchor="t" lIns="36576" rIns="36576" tIns="27432" bIns="27432">
            <a:spAutoFit/>
          </a:bodyPr>
          <a:lstStyle/>
          <a:p>
            <a:pPr algn="l">
              <a:spcAft>
                <a:spcPts val="200"/>
              </a:spcAft>
            </a:pPr>
            <a:r>
              <a:rPr sz="1050" b="0" i="0">
                <a:solidFill>
                  <a:srgbClr val="272525"/>
                </a:solidFill>
                <a:latin typeface="Calibri"/>
              </a:rPr>
              <a:t>24WU0102055  —  Maruti Nandan Jhawar</a:t>
            </a:r>
          </a:p>
          <a:p>
            <a:pPr algn="l">
              <a:spcAft>
                <a:spcPts val="200"/>
              </a:spcAft>
            </a:pPr>
            <a:r>
              <a:rPr sz="1050" b="0" i="0">
                <a:solidFill>
                  <a:srgbClr val="272525"/>
                </a:solidFill>
                <a:latin typeface="Calibri"/>
              </a:rPr>
              <a:t>24WU0102072  —  Devansh Bagaria</a:t>
            </a:r>
          </a:p>
          <a:p>
            <a:pPr algn="l">
              <a:spcAft>
                <a:spcPts val="200"/>
              </a:spcAft>
            </a:pPr>
            <a:r>
              <a:rPr sz="1050" b="0" i="0">
                <a:solidFill>
                  <a:srgbClr val="272525"/>
                </a:solidFill>
                <a:latin typeface="Calibri"/>
              </a:rPr>
              <a:t>24WU0102059  —  Sainishant Gajanand Biradar</a:t>
            </a:r>
          </a:p>
          <a:p>
            <a:pPr algn="l">
              <a:spcAft>
                <a:spcPts val="200"/>
              </a:spcAft>
            </a:pPr>
            <a:r>
              <a:rPr sz="1050" b="0" i="0">
                <a:solidFill>
                  <a:srgbClr val="272525"/>
                </a:solidFill>
                <a:latin typeface="Calibri"/>
              </a:rPr>
              <a:t>24WU0102006  —  Koushik</a:t>
            </a:r>
          </a:p>
          <a:p>
            <a:pPr algn="l">
              <a:spcAft>
                <a:spcPts val="200"/>
              </a:spcAft>
            </a:pPr>
            <a:r>
              <a:rPr sz="1050" b="0" i="0">
                <a:solidFill>
                  <a:srgbClr val="272525"/>
                </a:solidFill>
                <a:latin typeface="Calibri"/>
              </a:rPr>
              <a:t>24WU0102036  —  Sampath Bageyawadi</a:t>
            </a:r>
          </a:p>
        </p:txBody>
      </p:sp>
      <p:sp>
        <p:nvSpPr>
          <p:cNvPr id="10" name="TextBox 9"/>
          <p:cNvSpPr txBox="1"/>
          <p:nvPr/>
        </p:nvSpPr>
        <p:spPr>
          <a:xfrm>
            <a:off x="3840480" y="4498848"/>
            <a:ext cx="5120640" cy="274320"/>
          </a:xfrm>
          <a:prstGeom prst="rect">
            <a:avLst/>
          </a:prstGeom>
          <a:noFill/>
        </p:spPr>
        <p:txBody>
          <a:bodyPr wrap="square" anchor="t" lIns="36576" rIns="36576" tIns="27432" bIns="27432">
            <a:spAutoFit/>
          </a:bodyPr>
          <a:lstStyle/>
          <a:p>
            <a:pPr algn="l"/>
            <a:r>
              <a:rPr sz="1050" b="1" i="0">
                <a:solidFill>
                  <a:srgbClr val="272525"/>
                </a:solidFill>
                <a:latin typeface="Calibri"/>
              </a:rPr>
              <a:t>Mentor:  </a:t>
            </a:r>
            <a:r>
              <a:rPr sz="1050" b="0" i="1">
                <a:solidFill>
                  <a:srgbClr val="4472C4"/>
                </a:solidFill>
                <a:latin typeface="Calibri"/>
              </a:rPr>
              <a:t>&lt;&lt; add mentor name &gt;&gt;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329184"/>
            <a:ext cx="8138160" cy="603504"/>
          </a:xfrm>
          <a:prstGeom prst="rect">
            <a:avLst/>
          </a:prstGeom>
          <a:noFill/>
        </p:spPr>
        <p:txBody>
          <a:bodyPr wrap="square" anchor="t" lIns="36576" rIns="36576" tIns="27432" bIns="27432">
            <a:spAutoFit/>
          </a:bodyPr>
          <a:lstStyle/>
          <a:p>
            <a:pPr algn="l"/>
            <a:r>
              <a:rPr sz="2800" b="0" i="0">
                <a:solidFill>
                  <a:srgbClr val="000000"/>
                </a:solidFill>
                <a:latin typeface="Calibri Light"/>
              </a:rPr>
              <a:t>Introduction</a:t>
            </a:r>
          </a:p>
        </p:txBody>
      </p:sp>
      <p:sp>
        <p:nvSpPr>
          <p:cNvPr id="4" name="Rectangle 3"/>
          <p:cNvSpPr/>
          <p:nvPr/>
        </p:nvSpPr>
        <p:spPr>
          <a:xfrm>
            <a:off x="512064" y="950976"/>
            <a:ext cx="77724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3776" y="1097280"/>
            <a:ext cx="8138160" cy="502920"/>
          </a:xfrm>
          <a:prstGeom prst="rect">
            <a:avLst/>
          </a:prstGeom>
          <a:noFill/>
        </p:spPr>
        <p:txBody>
          <a:bodyPr wrap="square" anchor="t" lIns="36576" rIns="36576" tIns="27432" bIns="27432">
            <a:spAutoFit/>
          </a:bodyPr>
          <a:lstStyle/>
          <a:p>
            <a:pPr algn="l">
              <a:lnSpc>
                <a:spcPct val="105000"/>
              </a:lnSpc>
            </a:pPr>
            <a:r>
              <a:rPr sz="1250" b="0" i="0">
                <a:solidFill>
                  <a:srgbClr val="272525"/>
                </a:solidFill>
                <a:latin typeface="Calibri"/>
              </a:rPr>
              <a:t>Infer where things are in a room — presence, location, and the room’s boundary — from the Channel State Information (CSI) of ordinary Wi‑Fi. No cameras, minimal hardware.</a:t>
            </a:r>
          </a:p>
        </p:txBody>
      </p:sp>
      <p:sp>
        <p:nvSpPr>
          <p:cNvPr id="6" name="Rounded Rectangle 5"/>
          <p:cNvSpPr/>
          <p:nvPr/>
        </p:nvSpPr>
        <p:spPr>
          <a:xfrm>
            <a:off x="493776" y="1828800"/>
            <a:ext cx="2615184" cy="2468880"/>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93392"/>
            <a:ext cx="2286000" cy="320040"/>
          </a:xfrm>
          <a:prstGeom prst="rect">
            <a:avLst/>
          </a:prstGeom>
          <a:noFill/>
        </p:spPr>
        <p:txBody>
          <a:bodyPr wrap="square" anchor="t" lIns="36576" rIns="36576" tIns="27432" bIns="27432">
            <a:spAutoFit/>
          </a:bodyPr>
          <a:lstStyle/>
          <a:p>
            <a:pPr algn="l"/>
            <a:r>
              <a:rPr sz="1400" b="1" i="0">
                <a:solidFill>
                  <a:srgbClr val="4472C4"/>
                </a:solidFill>
                <a:latin typeface="Calibri Light"/>
              </a:rPr>
              <a:t>The problem</a:t>
            </a:r>
          </a:p>
        </p:txBody>
      </p:sp>
      <p:sp>
        <p:nvSpPr>
          <p:cNvPr id="8" name="TextBox 7"/>
          <p:cNvSpPr txBox="1"/>
          <p:nvPr/>
        </p:nvSpPr>
        <p:spPr>
          <a:xfrm>
            <a:off x="676656" y="2432304"/>
            <a:ext cx="2286000" cy="1737360"/>
          </a:xfrm>
          <a:prstGeom prst="rect">
            <a:avLst/>
          </a:prstGeom>
          <a:noFill/>
        </p:spPr>
        <p:txBody>
          <a:bodyPr wrap="square" anchor="t" lIns="36576" rIns="36576" tIns="27432" bIns="27432">
            <a:spAutoFit/>
          </a:bodyPr>
          <a:lstStyle/>
          <a:p>
            <a:pPr algn="l">
              <a:lnSpc>
                <a:spcPct val="100000"/>
              </a:lnSpc>
              <a:spcAft>
                <a:spcPts val="600"/>
              </a:spcAft>
            </a:pPr>
            <a:r>
              <a:rPr sz="1100" b="1" i="0">
                <a:solidFill>
                  <a:srgbClr val="4472C4"/>
                </a:solidFill>
                <a:latin typeface="Calibri"/>
              </a:rPr>
              <a:t>•  </a:t>
            </a:r>
            <a:r>
              <a:rPr sz="1100" b="0" i="0">
                <a:solidFill>
                  <a:srgbClr val="272525"/>
                </a:solidFill>
                <a:latin typeface="Calibri"/>
              </a:rPr>
              <a:t>High hardware cost</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Slow, manual surveys</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Missing / outdated floor plans</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Camera privacy risks</a:t>
            </a:r>
          </a:p>
        </p:txBody>
      </p:sp>
      <p:sp>
        <p:nvSpPr>
          <p:cNvPr id="9" name="Rounded Rectangle 8"/>
          <p:cNvSpPr/>
          <p:nvPr/>
        </p:nvSpPr>
        <p:spPr>
          <a:xfrm>
            <a:off x="3264408" y="1828800"/>
            <a:ext cx="2615184" cy="2468880"/>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1993392"/>
            <a:ext cx="2286000" cy="320040"/>
          </a:xfrm>
          <a:prstGeom prst="rect">
            <a:avLst/>
          </a:prstGeom>
          <a:noFill/>
        </p:spPr>
        <p:txBody>
          <a:bodyPr wrap="square" anchor="t" lIns="36576" rIns="36576" tIns="27432" bIns="27432">
            <a:spAutoFit/>
          </a:bodyPr>
          <a:lstStyle/>
          <a:p>
            <a:pPr algn="l"/>
            <a:r>
              <a:rPr sz="1400" b="1" i="0">
                <a:solidFill>
                  <a:srgbClr val="4472C4"/>
                </a:solidFill>
                <a:latin typeface="Calibri Light"/>
              </a:rPr>
              <a:t>Our approach</a:t>
            </a:r>
          </a:p>
        </p:txBody>
      </p:sp>
      <p:sp>
        <p:nvSpPr>
          <p:cNvPr id="11" name="TextBox 10"/>
          <p:cNvSpPr txBox="1"/>
          <p:nvPr/>
        </p:nvSpPr>
        <p:spPr>
          <a:xfrm>
            <a:off x="3447288" y="2432304"/>
            <a:ext cx="2286000" cy="1737360"/>
          </a:xfrm>
          <a:prstGeom prst="rect">
            <a:avLst/>
          </a:prstGeom>
          <a:noFill/>
        </p:spPr>
        <p:txBody>
          <a:bodyPr wrap="square" anchor="t" lIns="36576" rIns="36576" tIns="27432" bIns="27432">
            <a:spAutoFit/>
          </a:bodyPr>
          <a:lstStyle/>
          <a:p>
            <a:pPr algn="l">
              <a:lnSpc>
                <a:spcPct val="100000"/>
              </a:lnSpc>
              <a:spcAft>
                <a:spcPts val="600"/>
              </a:spcAft>
            </a:pPr>
            <a:r>
              <a:rPr sz="1100" b="1" i="0">
                <a:solidFill>
                  <a:srgbClr val="4472C4"/>
                </a:solidFill>
                <a:latin typeface="Calibri"/>
              </a:rPr>
              <a:t>•  </a:t>
            </a:r>
            <a:r>
              <a:rPr sz="1100" b="0" i="0">
                <a:solidFill>
                  <a:srgbClr val="272525"/>
                </a:solidFill>
                <a:latin typeface="Calibri"/>
              </a:rPr>
              <a:t>Wi‑Fi CSI → signal processing</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 PCA → 1D‑CNN / tomography</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 estimated spatial layout</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Privacy‑first, low‑cost</a:t>
            </a:r>
          </a:p>
        </p:txBody>
      </p:sp>
      <p:sp>
        <p:nvSpPr>
          <p:cNvPr id="12" name="Rounded Rectangle 11"/>
          <p:cNvSpPr/>
          <p:nvPr/>
        </p:nvSpPr>
        <p:spPr>
          <a:xfrm>
            <a:off x="6035040" y="1828800"/>
            <a:ext cx="2615184" cy="2468880"/>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993392"/>
            <a:ext cx="2286000" cy="320040"/>
          </a:xfrm>
          <a:prstGeom prst="rect">
            <a:avLst/>
          </a:prstGeom>
          <a:noFill/>
        </p:spPr>
        <p:txBody>
          <a:bodyPr wrap="square" anchor="t" lIns="36576" rIns="36576" tIns="27432" bIns="27432">
            <a:spAutoFit/>
          </a:bodyPr>
          <a:lstStyle/>
          <a:p>
            <a:pPr algn="l"/>
            <a:r>
              <a:rPr sz="1400" b="1" i="0">
                <a:solidFill>
                  <a:srgbClr val="4472C4"/>
                </a:solidFill>
                <a:latin typeface="Calibri Light"/>
              </a:rPr>
              <a:t>Since Review 1</a:t>
            </a:r>
          </a:p>
        </p:txBody>
      </p:sp>
      <p:sp>
        <p:nvSpPr>
          <p:cNvPr id="14" name="TextBox 13"/>
          <p:cNvSpPr txBox="1"/>
          <p:nvPr/>
        </p:nvSpPr>
        <p:spPr>
          <a:xfrm>
            <a:off x="6217920" y="2432304"/>
            <a:ext cx="2286000" cy="1737360"/>
          </a:xfrm>
          <a:prstGeom prst="rect">
            <a:avLst/>
          </a:prstGeom>
          <a:noFill/>
        </p:spPr>
        <p:txBody>
          <a:bodyPr wrap="square" anchor="t" lIns="36576" rIns="36576" tIns="27432" bIns="27432">
            <a:spAutoFit/>
          </a:bodyPr>
          <a:lstStyle/>
          <a:p>
            <a:pPr algn="l">
              <a:lnSpc>
                <a:spcPct val="100000"/>
              </a:lnSpc>
              <a:spcAft>
                <a:spcPts val="600"/>
              </a:spcAft>
            </a:pPr>
            <a:r>
              <a:rPr sz="1100" b="1" i="0">
                <a:solidFill>
                  <a:srgbClr val="4472C4"/>
                </a:solidFill>
                <a:latin typeface="Calibri"/>
              </a:rPr>
              <a:t>•  </a:t>
            </a:r>
            <a:r>
              <a:rPr sz="1100" b="0" i="0">
                <a:solidFill>
                  <a:srgbClr val="272525"/>
                </a:solidFill>
                <a:latin typeface="Calibri"/>
              </a:rPr>
              <a:t>From proposal to a working</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Phase 1–3 pipeline</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Runs end‑to‑end today</a:t>
            </a:r>
          </a:p>
          <a:p>
            <a:pPr algn="l">
              <a:lnSpc>
                <a:spcPct val="100000"/>
              </a:lnSpc>
              <a:spcAft>
                <a:spcPts val="600"/>
              </a:spcAft>
            </a:pPr>
            <a:r>
              <a:rPr sz="1100" b="1" i="0">
                <a:solidFill>
                  <a:srgbClr val="4472C4"/>
                </a:solidFill>
                <a:latin typeface="Calibri"/>
              </a:rPr>
              <a:t>•  </a:t>
            </a:r>
            <a:r>
              <a:rPr sz="1100" b="0" i="0">
                <a:solidFill>
                  <a:srgbClr val="272525"/>
                </a:solidFill>
                <a:latin typeface="Calibri"/>
              </a:rPr>
              <a:t>Router now → ESP32 later</a:t>
            </a:r>
          </a:p>
        </p:txBody>
      </p:sp>
      <p:sp>
        <p:nvSpPr>
          <p:cNvPr id="15" name="TextBox 14"/>
          <p:cNvSpPr txBox="1"/>
          <p:nvPr/>
        </p:nvSpPr>
        <p:spPr>
          <a:xfrm>
            <a:off x="493776" y="4837176"/>
            <a:ext cx="5486400" cy="256032"/>
          </a:xfrm>
          <a:prstGeom prst="rect">
            <a:avLst/>
          </a:prstGeom>
          <a:noFill/>
        </p:spPr>
        <p:txBody>
          <a:bodyPr wrap="square" anchor="t" lIns="36576" rIns="36576" tIns="27432" bIns="27432">
            <a:spAutoFit/>
          </a:bodyPr>
          <a:lstStyle/>
          <a:p>
            <a:pPr algn="l"/>
            <a:r>
              <a:rPr sz="800" b="0" i="0">
                <a:solidFill>
                  <a:srgbClr val="8A8A8A"/>
                </a:solidFill>
                <a:latin typeface="Calibri"/>
              </a:rPr>
              <a:t>Wi‑Fi CSI Spatial Mapping  ·  Progress Review 2</a:t>
            </a:r>
          </a:p>
        </p:txBody>
      </p:sp>
      <p:sp>
        <p:nvSpPr>
          <p:cNvPr id="16" name="TextBox 15"/>
          <p:cNvSpPr txBox="1"/>
          <p:nvPr/>
        </p:nvSpPr>
        <p:spPr>
          <a:xfrm>
            <a:off x="8138160" y="4837176"/>
            <a:ext cx="731520" cy="256032"/>
          </a:xfrm>
          <a:prstGeom prst="rect">
            <a:avLst/>
          </a:prstGeom>
          <a:noFill/>
        </p:spPr>
        <p:txBody>
          <a:bodyPr wrap="square" anchor="t" lIns="36576" rIns="36576" tIns="27432" bIns="27432">
            <a:spAutoFit/>
          </a:bodyPr>
          <a:lstStyle/>
          <a:p>
            <a:pPr algn="r"/>
            <a:r>
              <a:rPr sz="800" b="0" i="0">
                <a:solidFill>
                  <a:srgbClr val="8A8A8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329184"/>
            <a:ext cx="8138160" cy="603504"/>
          </a:xfrm>
          <a:prstGeom prst="rect">
            <a:avLst/>
          </a:prstGeom>
          <a:noFill/>
        </p:spPr>
        <p:txBody>
          <a:bodyPr wrap="square" anchor="t" lIns="36576" rIns="36576" tIns="27432" bIns="27432">
            <a:spAutoFit/>
          </a:bodyPr>
          <a:lstStyle/>
          <a:p>
            <a:pPr algn="l"/>
            <a:r>
              <a:rPr sz="2800" b="0" i="0">
                <a:solidFill>
                  <a:srgbClr val="000000"/>
                </a:solidFill>
                <a:latin typeface="Calibri Light"/>
              </a:rPr>
              <a:t>Methodology</a:t>
            </a:r>
          </a:p>
        </p:txBody>
      </p:sp>
      <p:sp>
        <p:nvSpPr>
          <p:cNvPr id="4" name="Rectangle 3"/>
          <p:cNvSpPr/>
          <p:nvPr/>
        </p:nvSpPr>
        <p:spPr>
          <a:xfrm>
            <a:off x="512064" y="950976"/>
            <a:ext cx="77724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3776" y="1097280"/>
            <a:ext cx="8138160" cy="457200"/>
          </a:xfrm>
          <a:prstGeom prst="rect">
            <a:avLst/>
          </a:prstGeom>
          <a:noFill/>
        </p:spPr>
        <p:txBody>
          <a:bodyPr wrap="square" anchor="t" lIns="36576" rIns="36576" tIns="27432" bIns="27432">
            <a:spAutoFit/>
          </a:bodyPr>
          <a:lstStyle/>
          <a:p>
            <a:pPr algn="l">
              <a:lnSpc>
                <a:spcPct val="105000"/>
              </a:lnSpc>
            </a:pPr>
            <a:r>
              <a:rPr sz="1200" b="0" i="0">
                <a:solidFill>
                  <a:srgbClr val="272525"/>
                </a:solidFill>
                <a:latin typeface="Calibri"/>
              </a:rPr>
              <a:t>One pipeline from raw CSI to a live spatial map. The capture backend is swappable — Wi‑Fi router now, ESP32‑S3 later — with no changes downstream.</a:t>
            </a:r>
          </a:p>
        </p:txBody>
      </p:sp>
      <p:sp>
        <p:nvSpPr>
          <p:cNvPr id="6" name="Rounded Rectangle 5"/>
          <p:cNvSpPr/>
          <p:nvPr/>
        </p:nvSpPr>
        <p:spPr>
          <a:xfrm>
            <a:off x="493776" y="1965960"/>
            <a:ext cx="1371600" cy="1463040"/>
          </a:xfrm>
          <a:prstGeom prst="roundRect">
            <a:avLst>
              <a:gd name="adj" fmla="val 6000"/>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2103120"/>
            <a:ext cx="1188720" cy="320040"/>
          </a:xfrm>
          <a:prstGeom prst="rect">
            <a:avLst/>
          </a:prstGeom>
          <a:noFill/>
        </p:spPr>
        <p:txBody>
          <a:bodyPr wrap="square" anchor="t" lIns="36576" rIns="36576" tIns="27432" bIns="27432">
            <a:spAutoFit/>
          </a:bodyPr>
          <a:lstStyle/>
          <a:p>
            <a:pPr algn="ctr"/>
            <a:r>
              <a:rPr sz="1200" b="1" i="0">
                <a:solidFill>
                  <a:srgbClr val="4472C4"/>
                </a:solidFill>
                <a:latin typeface="Calibri"/>
              </a:rPr>
              <a:t>Capture</a:t>
            </a:r>
          </a:p>
        </p:txBody>
      </p:sp>
      <p:sp>
        <p:nvSpPr>
          <p:cNvPr id="8" name="TextBox 7"/>
          <p:cNvSpPr txBox="1"/>
          <p:nvPr/>
        </p:nvSpPr>
        <p:spPr>
          <a:xfrm>
            <a:off x="566928" y="2487168"/>
            <a:ext cx="1225296" cy="868680"/>
          </a:xfrm>
          <a:prstGeom prst="rect">
            <a:avLst/>
          </a:prstGeom>
          <a:noFill/>
        </p:spPr>
        <p:txBody>
          <a:bodyPr wrap="square" anchor="t" lIns="36576" rIns="36576" tIns="27432" bIns="27432">
            <a:spAutoFit/>
          </a:bodyPr>
          <a:lstStyle/>
          <a:p>
            <a:pPr algn="ctr">
              <a:spcAft>
                <a:spcPts val="0"/>
              </a:spcAft>
            </a:pPr>
            <a:r>
              <a:rPr sz="900" b="0" i="0">
                <a:solidFill>
                  <a:srgbClr val="272525"/>
                </a:solidFill>
                <a:latin typeface="Calibri"/>
              </a:rPr>
              <a:t>multi‑node CSI</a:t>
            </a:r>
          </a:p>
          <a:p>
            <a:pPr algn="ctr">
              <a:spcAft>
                <a:spcPts val="0"/>
              </a:spcAft>
            </a:pPr>
            <a:r>
              <a:rPr sz="900" b="0" i="0">
                <a:solidFill>
                  <a:srgbClr val="272525"/>
                </a:solidFill>
                <a:latin typeface="Calibri"/>
              </a:rPr>
              <a:t>router · ESP32 · sim</a:t>
            </a:r>
          </a:p>
        </p:txBody>
      </p:sp>
      <p:sp>
        <p:nvSpPr>
          <p:cNvPr id="9" name="TextBox 8"/>
          <p:cNvSpPr txBox="1"/>
          <p:nvPr/>
        </p:nvSpPr>
        <p:spPr>
          <a:xfrm>
            <a:off x="1865376" y="2331720"/>
            <a:ext cx="320040" cy="457200"/>
          </a:xfrm>
          <a:prstGeom prst="rect">
            <a:avLst/>
          </a:prstGeom>
          <a:noFill/>
        </p:spPr>
        <p:txBody>
          <a:bodyPr wrap="square" anchor="t" lIns="36576" rIns="36576" tIns="27432" bIns="27432">
            <a:spAutoFit/>
          </a:bodyPr>
          <a:lstStyle/>
          <a:p>
            <a:pPr algn="ctr"/>
            <a:r>
              <a:rPr sz="1800" b="1" i="0">
                <a:solidFill>
                  <a:srgbClr val="4472C4"/>
                </a:solidFill>
                <a:latin typeface="Calibri"/>
              </a:rPr>
              <a:t>→</a:t>
            </a:r>
          </a:p>
        </p:txBody>
      </p:sp>
      <p:sp>
        <p:nvSpPr>
          <p:cNvPr id="10" name="Rounded Rectangle 9"/>
          <p:cNvSpPr/>
          <p:nvPr/>
        </p:nvSpPr>
        <p:spPr>
          <a:xfrm>
            <a:off x="2185416" y="1965960"/>
            <a:ext cx="1371600" cy="1463040"/>
          </a:xfrm>
          <a:prstGeom prst="roundRect">
            <a:avLst>
              <a:gd name="adj" fmla="val 6000"/>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76856" y="2103120"/>
            <a:ext cx="1188720" cy="320040"/>
          </a:xfrm>
          <a:prstGeom prst="rect">
            <a:avLst/>
          </a:prstGeom>
          <a:noFill/>
        </p:spPr>
        <p:txBody>
          <a:bodyPr wrap="square" anchor="t" lIns="36576" rIns="36576" tIns="27432" bIns="27432">
            <a:spAutoFit/>
          </a:bodyPr>
          <a:lstStyle/>
          <a:p>
            <a:pPr algn="ctr"/>
            <a:r>
              <a:rPr sz="1200" b="1" i="0">
                <a:solidFill>
                  <a:srgbClr val="4472C4"/>
                </a:solidFill>
                <a:latin typeface="Calibri"/>
              </a:rPr>
              <a:t>Clean</a:t>
            </a:r>
          </a:p>
        </p:txBody>
      </p:sp>
      <p:sp>
        <p:nvSpPr>
          <p:cNvPr id="12" name="TextBox 11"/>
          <p:cNvSpPr txBox="1"/>
          <p:nvPr/>
        </p:nvSpPr>
        <p:spPr>
          <a:xfrm>
            <a:off x="2258568" y="2487168"/>
            <a:ext cx="1225296" cy="868680"/>
          </a:xfrm>
          <a:prstGeom prst="rect">
            <a:avLst/>
          </a:prstGeom>
          <a:noFill/>
        </p:spPr>
        <p:txBody>
          <a:bodyPr wrap="square" anchor="t" lIns="36576" rIns="36576" tIns="27432" bIns="27432">
            <a:spAutoFit/>
          </a:bodyPr>
          <a:lstStyle/>
          <a:p>
            <a:pPr algn="ctr">
              <a:spcAft>
                <a:spcPts val="0"/>
              </a:spcAft>
            </a:pPr>
            <a:r>
              <a:rPr sz="900" b="0" i="0">
                <a:solidFill>
                  <a:srgbClr val="272525"/>
                </a:solidFill>
                <a:latin typeface="Calibri"/>
              </a:rPr>
              <a:t>CFO/SFO phase</a:t>
            </a:r>
          </a:p>
          <a:p>
            <a:pPr algn="ctr">
              <a:spcAft>
                <a:spcPts val="0"/>
              </a:spcAft>
            </a:pPr>
            <a:r>
              <a:rPr sz="900" b="0" i="0">
                <a:solidFill>
                  <a:srgbClr val="272525"/>
                </a:solidFill>
                <a:latin typeface="Calibri"/>
              </a:rPr>
              <a:t>Hampel · Butterworth</a:t>
            </a:r>
          </a:p>
        </p:txBody>
      </p:sp>
      <p:sp>
        <p:nvSpPr>
          <p:cNvPr id="13" name="TextBox 12"/>
          <p:cNvSpPr txBox="1"/>
          <p:nvPr/>
        </p:nvSpPr>
        <p:spPr>
          <a:xfrm>
            <a:off x="3557016" y="2331720"/>
            <a:ext cx="320040" cy="457200"/>
          </a:xfrm>
          <a:prstGeom prst="rect">
            <a:avLst/>
          </a:prstGeom>
          <a:noFill/>
        </p:spPr>
        <p:txBody>
          <a:bodyPr wrap="square" anchor="t" lIns="36576" rIns="36576" tIns="27432" bIns="27432">
            <a:spAutoFit/>
          </a:bodyPr>
          <a:lstStyle/>
          <a:p>
            <a:pPr algn="ctr"/>
            <a:r>
              <a:rPr sz="1800" b="1" i="0">
                <a:solidFill>
                  <a:srgbClr val="4472C4"/>
                </a:solidFill>
                <a:latin typeface="Calibri"/>
              </a:rPr>
              <a:t>→</a:t>
            </a:r>
          </a:p>
        </p:txBody>
      </p:sp>
      <p:sp>
        <p:nvSpPr>
          <p:cNvPr id="14" name="Rounded Rectangle 13"/>
          <p:cNvSpPr/>
          <p:nvPr/>
        </p:nvSpPr>
        <p:spPr>
          <a:xfrm>
            <a:off x="3877056" y="1965960"/>
            <a:ext cx="1371600" cy="1463040"/>
          </a:xfrm>
          <a:prstGeom prst="roundRect">
            <a:avLst>
              <a:gd name="adj" fmla="val 6000"/>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68496" y="2103120"/>
            <a:ext cx="1188720" cy="320040"/>
          </a:xfrm>
          <a:prstGeom prst="rect">
            <a:avLst/>
          </a:prstGeom>
          <a:noFill/>
        </p:spPr>
        <p:txBody>
          <a:bodyPr wrap="square" anchor="t" lIns="36576" rIns="36576" tIns="27432" bIns="27432">
            <a:spAutoFit/>
          </a:bodyPr>
          <a:lstStyle/>
          <a:p>
            <a:pPr algn="ctr"/>
            <a:r>
              <a:rPr sz="1200" b="1" i="0">
                <a:solidFill>
                  <a:srgbClr val="4472C4"/>
                </a:solidFill>
                <a:latin typeface="Calibri"/>
              </a:rPr>
              <a:t>Reduce</a:t>
            </a:r>
          </a:p>
        </p:txBody>
      </p:sp>
      <p:sp>
        <p:nvSpPr>
          <p:cNvPr id="16" name="TextBox 15"/>
          <p:cNvSpPr txBox="1"/>
          <p:nvPr/>
        </p:nvSpPr>
        <p:spPr>
          <a:xfrm>
            <a:off x="3950208" y="2487168"/>
            <a:ext cx="1225296" cy="868680"/>
          </a:xfrm>
          <a:prstGeom prst="rect">
            <a:avLst/>
          </a:prstGeom>
          <a:noFill/>
        </p:spPr>
        <p:txBody>
          <a:bodyPr wrap="square" anchor="t" lIns="36576" rIns="36576" tIns="27432" bIns="27432">
            <a:spAutoFit/>
          </a:bodyPr>
          <a:lstStyle/>
          <a:p>
            <a:pPr algn="ctr">
              <a:spcAft>
                <a:spcPts val="0"/>
              </a:spcAft>
            </a:pPr>
            <a:r>
              <a:rPr sz="900" b="0" i="0">
                <a:solidFill>
                  <a:srgbClr val="272525"/>
                </a:solidFill>
                <a:latin typeface="Calibri"/>
              </a:rPr>
              <a:t>PCA feature</a:t>
            </a:r>
          </a:p>
          <a:p>
            <a:pPr algn="ctr">
              <a:spcAft>
                <a:spcPts val="0"/>
              </a:spcAft>
            </a:pPr>
            <a:r>
              <a:rPr sz="900" b="0" i="0">
                <a:solidFill>
                  <a:srgbClr val="272525"/>
                </a:solidFill>
                <a:latin typeface="Calibri"/>
              </a:rPr>
              <a:t>reduction</a:t>
            </a:r>
          </a:p>
        </p:txBody>
      </p:sp>
      <p:sp>
        <p:nvSpPr>
          <p:cNvPr id="17" name="TextBox 16"/>
          <p:cNvSpPr txBox="1"/>
          <p:nvPr/>
        </p:nvSpPr>
        <p:spPr>
          <a:xfrm>
            <a:off x="5248656" y="2331720"/>
            <a:ext cx="320040" cy="457200"/>
          </a:xfrm>
          <a:prstGeom prst="rect">
            <a:avLst/>
          </a:prstGeom>
          <a:noFill/>
        </p:spPr>
        <p:txBody>
          <a:bodyPr wrap="square" anchor="t" lIns="36576" rIns="36576" tIns="27432" bIns="27432">
            <a:spAutoFit/>
          </a:bodyPr>
          <a:lstStyle/>
          <a:p>
            <a:pPr algn="ctr"/>
            <a:r>
              <a:rPr sz="1800" b="1" i="0">
                <a:solidFill>
                  <a:srgbClr val="4472C4"/>
                </a:solidFill>
                <a:latin typeface="Calibri"/>
              </a:rPr>
              <a:t>→</a:t>
            </a:r>
          </a:p>
        </p:txBody>
      </p:sp>
      <p:sp>
        <p:nvSpPr>
          <p:cNvPr id="18" name="Rounded Rectangle 17"/>
          <p:cNvSpPr/>
          <p:nvPr/>
        </p:nvSpPr>
        <p:spPr>
          <a:xfrm>
            <a:off x="5568696" y="1965960"/>
            <a:ext cx="1371600" cy="1463040"/>
          </a:xfrm>
          <a:prstGeom prst="roundRect">
            <a:avLst>
              <a:gd name="adj" fmla="val 6000"/>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0136" y="2103120"/>
            <a:ext cx="1188720" cy="320040"/>
          </a:xfrm>
          <a:prstGeom prst="rect">
            <a:avLst/>
          </a:prstGeom>
          <a:noFill/>
        </p:spPr>
        <p:txBody>
          <a:bodyPr wrap="square" anchor="t" lIns="36576" rIns="36576" tIns="27432" bIns="27432">
            <a:spAutoFit/>
          </a:bodyPr>
          <a:lstStyle/>
          <a:p>
            <a:pPr algn="ctr"/>
            <a:r>
              <a:rPr sz="1200" b="1" i="0">
                <a:solidFill>
                  <a:srgbClr val="4472C4"/>
                </a:solidFill>
                <a:latin typeface="Calibri"/>
              </a:rPr>
              <a:t>Model</a:t>
            </a:r>
          </a:p>
        </p:txBody>
      </p:sp>
      <p:sp>
        <p:nvSpPr>
          <p:cNvPr id="20" name="TextBox 19"/>
          <p:cNvSpPr txBox="1"/>
          <p:nvPr/>
        </p:nvSpPr>
        <p:spPr>
          <a:xfrm>
            <a:off x="5641848" y="2487168"/>
            <a:ext cx="1225296" cy="868680"/>
          </a:xfrm>
          <a:prstGeom prst="rect">
            <a:avLst/>
          </a:prstGeom>
          <a:noFill/>
        </p:spPr>
        <p:txBody>
          <a:bodyPr wrap="square" anchor="t" lIns="36576" rIns="36576" tIns="27432" bIns="27432">
            <a:spAutoFit/>
          </a:bodyPr>
          <a:lstStyle/>
          <a:p>
            <a:pPr algn="ctr">
              <a:spcAft>
                <a:spcPts val="0"/>
              </a:spcAft>
            </a:pPr>
            <a:r>
              <a:rPr sz="900" b="0" i="0">
                <a:solidFill>
                  <a:srgbClr val="272525"/>
                </a:solidFill>
                <a:latin typeface="Calibri"/>
              </a:rPr>
              <a:t>1D‑CNN (PyTorch)</a:t>
            </a:r>
          </a:p>
          <a:p>
            <a:pPr algn="ctr">
              <a:spcAft>
                <a:spcPts val="0"/>
              </a:spcAft>
            </a:pPr>
            <a:r>
              <a:rPr sz="900" b="0" i="0">
                <a:solidFill>
                  <a:srgbClr val="272525"/>
                </a:solidFill>
                <a:latin typeface="Calibri"/>
              </a:rPr>
              <a:t>+ tomography</a:t>
            </a:r>
          </a:p>
        </p:txBody>
      </p:sp>
      <p:sp>
        <p:nvSpPr>
          <p:cNvPr id="21" name="TextBox 20"/>
          <p:cNvSpPr txBox="1"/>
          <p:nvPr/>
        </p:nvSpPr>
        <p:spPr>
          <a:xfrm>
            <a:off x="6940296" y="2331720"/>
            <a:ext cx="320040" cy="457200"/>
          </a:xfrm>
          <a:prstGeom prst="rect">
            <a:avLst/>
          </a:prstGeom>
          <a:noFill/>
        </p:spPr>
        <p:txBody>
          <a:bodyPr wrap="square" anchor="t" lIns="36576" rIns="36576" tIns="27432" bIns="27432">
            <a:spAutoFit/>
          </a:bodyPr>
          <a:lstStyle/>
          <a:p>
            <a:pPr algn="ctr"/>
            <a:r>
              <a:rPr sz="1800" b="1" i="0">
                <a:solidFill>
                  <a:srgbClr val="4472C4"/>
                </a:solidFill>
                <a:latin typeface="Calibri"/>
              </a:rPr>
              <a:t>→</a:t>
            </a:r>
          </a:p>
        </p:txBody>
      </p:sp>
      <p:sp>
        <p:nvSpPr>
          <p:cNvPr id="22" name="Rounded Rectangle 21"/>
          <p:cNvSpPr/>
          <p:nvPr/>
        </p:nvSpPr>
        <p:spPr>
          <a:xfrm>
            <a:off x="7260336" y="1965960"/>
            <a:ext cx="1371600" cy="1463040"/>
          </a:xfrm>
          <a:prstGeom prst="roundRect">
            <a:avLst>
              <a:gd name="adj" fmla="val 6000"/>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51775" y="2103120"/>
            <a:ext cx="1188720" cy="320040"/>
          </a:xfrm>
          <a:prstGeom prst="rect">
            <a:avLst/>
          </a:prstGeom>
          <a:noFill/>
        </p:spPr>
        <p:txBody>
          <a:bodyPr wrap="square" anchor="t" lIns="36576" rIns="36576" tIns="27432" bIns="27432">
            <a:spAutoFit/>
          </a:bodyPr>
          <a:lstStyle/>
          <a:p>
            <a:pPr algn="ctr"/>
            <a:r>
              <a:rPr sz="1200" b="1" i="0">
                <a:solidFill>
                  <a:srgbClr val="4472C4"/>
                </a:solidFill>
                <a:latin typeface="Calibri"/>
              </a:rPr>
              <a:t>Serve</a:t>
            </a:r>
          </a:p>
        </p:txBody>
      </p:sp>
      <p:sp>
        <p:nvSpPr>
          <p:cNvPr id="24" name="TextBox 23"/>
          <p:cNvSpPr txBox="1"/>
          <p:nvPr/>
        </p:nvSpPr>
        <p:spPr>
          <a:xfrm>
            <a:off x="7333488" y="2487168"/>
            <a:ext cx="1225296" cy="868680"/>
          </a:xfrm>
          <a:prstGeom prst="rect">
            <a:avLst/>
          </a:prstGeom>
          <a:noFill/>
        </p:spPr>
        <p:txBody>
          <a:bodyPr wrap="square" anchor="t" lIns="36576" rIns="36576" tIns="27432" bIns="27432">
            <a:spAutoFit/>
          </a:bodyPr>
          <a:lstStyle/>
          <a:p>
            <a:pPr algn="ctr">
              <a:spcAft>
                <a:spcPts val="0"/>
              </a:spcAft>
            </a:pPr>
            <a:r>
              <a:rPr sz="900" b="0" i="0">
                <a:solidFill>
                  <a:srgbClr val="272525"/>
                </a:solidFill>
                <a:latin typeface="Calibri"/>
              </a:rPr>
              <a:t>FastAPI + WebSocket</a:t>
            </a:r>
          </a:p>
          <a:p>
            <a:pPr algn="ctr">
              <a:spcAft>
                <a:spcPts val="0"/>
              </a:spcAft>
            </a:pPr>
            <a:r>
              <a:rPr sz="900" b="0" i="0">
                <a:solidFill>
                  <a:srgbClr val="272525"/>
                </a:solidFill>
                <a:latin typeface="Calibri"/>
              </a:rPr>
              <a:t>live Canvas map</a:t>
            </a:r>
          </a:p>
        </p:txBody>
      </p:sp>
      <p:sp>
        <p:nvSpPr>
          <p:cNvPr id="25" name="Rounded Rectangle 24"/>
          <p:cNvSpPr/>
          <p:nvPr/>
        </p:nvSpPr>
        <p:spPr>
          <a:xfrm>
            <a:off x="493776" y="3767328"/>
            <a:ext cx="8138160" cy="841248"/>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77056"/>
            <a:ext cx="7772400" cy="658368"/>
          </a:xfrm>
          <a:prstGeom prst="rect">
            <a:avLst/>
          </a:prstGeom>
          <a:noFill/>
        </p:spPr>
        <p:txBody>
          <a:bodyPr wrap="square" anchor="t" lIns="36576" rIns="36576" tIns="27432" bIns="27432">
            <a:spAutoFit/>
          </a:bodyPr>
          <a:lstStyle/>
          <a:p>
            <a:pPr algn="l">
              <a:lnSpc>
                <a:spcPct val="103000"/>
              </a:lnSpc>
            </a:pPr>
            <a:r>
              <a:rPr sz="1100" b="1" i="0">
                <a:solidFill>
                  <a:srgbClr val="272525"/>
                </a:solidFill>
                <a:latin typeface="Calibri"/>
              </a:rPr>
              <a:t>Validated on a physics‑based room simulator </a:t>
            </a:r>
            <a:r>
              <a:rPr sz="1100" b="0" i="0">
                <a:solidFill>
                  <a:srgbClr val="272525"/>
                </a:solidFill>
                <a:latin typeface="Calibri"/>
              </a:rPr>
              <a:t>(direct path, wall reflections, obstacle shadowing) that yields perfectly‑labelled data before hardware. It implements the same capture interface as the router, so moving to real captures changes nothing in the pipeline.</a:t>
            </a:r>
          </a:p>
        </p:txBody>
      </p:sp>
      <p:sp>
        <p:nvSpPr>
          <p:cNvPr id="27" name="TextBox 26"/>
          <p:cNvSpPr txBox="1"/>
          <p:nvPr/>
        </p:nvSpPr>
        <p:spPr>
          <a:xfrm>
            <a:off x="493776" y="4837176"/>
            <a:ext cx="5486400" cy="256032"/>
          </a:xfrm>
          <a:prstGeom prst="rect">
            <a:avLst/>
          </a:prstGeom>
          <a:noFill/>
        </p:spPr>
        <p:txBody>
          <a:bodyPr wrap="square" anchor="t" lIns="36576" rIns="36576" tIns="27432" bIns="27432">
            <a:spAutoFit/>
          </a:bodyPr>
          <a:lstStyle/>
          <a:p>
            <a:pPr algn="l"/>
            <a:r>
              <a:rPr sz="800" b="0" i="0">
                <a:solidFill>
                  <a:srgbClr val="8A8A8A"/>
                </a:solidFill>
                <a:latin typeface="Calibri"/>
              </a:rPr>
              <a:t>Wi‑Fi CSI Spatial Mapping  ·  Progress Review 2</a:t>
            </a:r>
          </a:p>
        </p:txBody>
      </p:sp>
      <p:sp>
        <p:nvSpPr>
          <p:cNvPr id="28" name="TextBox 27"/>
          <p:cNvSpPr txBox="1"/>
          <p:nvPr/>
        </p:nvSpPr>
        <p:spPr>
          <a:xfrm>
            <a:off x="8138160" y="4837176"/>
            <a:ext cx="731520" cy="256032"/>
          </a:xfrm>
          <a:prstGeom prst="rect">
            <a:avLst/>
          </a:prstGeom>
          <a:noFill/>
        </p:spPr>
        <p:txBody>
          <a:bodyPr wrap="square" anchor="t" lIns="36576" rIns="36576" tIns="27432" bIns="27432">
            <a:spAutoFit/>
          </a:bodyPr>
          <a:lstStyle/>
          <a:p>
            <a:pPr algn="r"/>
            <a:r>
              <a:rPr sz="800" b="0" i="0">
                <a:solidFill>
                  <a:srgbClr val="8A8A8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329184"/>
            <a:ext cx="8138160" cy="603504"/>
          </a:xfrm>
          <a:prstGeom prst="rect">
            <a:avLst/>
          </a:prstGeom>
          <a:noFill/>
        </p:spPr>
        <p:txBody>
          <a:bodyPr wrap="square" anchor="t" lIns="36576" rIns="36576" tIns="27432" bIns="27432">
            <a:spAutoFit/>
          </a:bodyPr>
          <a:lstStyle/>
          <a:p>
            <a:pPr algn="l"/>
            <a:r>
              <a:rPr sz="2800" b="0" i="0">
                <a:solidFill>
                  <a:srgbClr val="000000"/>
                </a:solidFill>
                <a:latin typeface="Calibri Light"/>
              </a:rPr>
              <a:t>Progress — Phases 1–3</a:t>
            </a:r>
          </a:p>
        </p:txBody>
      </p:sp>
      <p:sp>
        <p:nvSpPr>
          <p:cNvPr id="4" name="Rectangle 3"/>
          <p:cNvSpPr/>
          <p:nvPr/>
        </p:nvSpPr>
        <p:spPr>
          <a:xfrm>
            <a:off x="512064" y="950976"/>
            <a:ext cx="77724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93776" y="1207008"/>
            <a:ext cx="2615184" cy="2514600"/>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1353312"/>
            <a:ext cx="2286000" cy="219456"/>
          </a:xfrm>
          <a:prstGeom prst="rect">
            <a:avLst/>
          </a:prstGeom>
          <a:noFill/>
        </p:spPr>
        <p:txBody>
          <a:bodyPr wrap="square" anchor="t" lIns="36576" rIns="36576" tIns="27432" bIns="27432">
            <a:spAutoFit/>
          </a:bodyPr>
          <a:lstStyle/>
          <a:p>
            <a:pPr algn="l"/>
            <a:r>
              <a:rPr sz="1000" b="1" i="0">
                <a:solidFill>
                  <a:srgbClr val="4472C4"/>
                </a:solidFill>
                <a:latin typeface="Calibri"/>
              </a:rPr>
              <a:t>PHASE 1</a:t>
            </a:r>
          </a:p>
        </p:txBody>
      </p:sp>
      <p:sp>
        <p:nvSpPr>
          <p:cNvPr id="7" name="TextBox 6"/>
          <p:cNvSpPr txBox="1"/>
          <p:nvPr/>
        </p:nvSpPr>
        <p:spPr>
          <a:xfrm>
            <a:off x="676656" y="1591056"/>
            <a:ext cx="2286000" cy="548640"/>
          </a:xfrm>
          <a:prstGeom prst="rect">
            <a:avLst/>
          </a:prstGeom>
          <a:noFill/>
        </p:spPr>
        <p:txBody>
          <a:bodyPr wrap="square" anchor="t" lIns="36576" rIns="36576" tIns="27432" bIns="27432">
            <a:spAutoFit/>
          </a:bodyPr>
          <a:lstStyle/>
          <a:p>
            <a:pPr algn="l"/>
            <a:r>
              <a:rPr sz="1350" b="1" i="0">
                <a:solidFill>
                  <a:srgbClr val="272525"/>
                </a:solidFill>
                <a:latin typeface="Calibri Light"/>
              </a:rPr>
              <a:t>Single obstacle detection</a:t>
            </a:r>
          </a:p>
        </p:txBody>
      </p:sp>
      <p:sp>
        <p:nvSpPr>
          <p:cNvPr id="8" name="TextBox 7"/>
          <p:cNvSpPr txBox="1"/>
          <p:nvPr/>
        </p:nvSpPr>
        <p:spPr>
          <a:xfrm>
            <a:off x="676656" y="2240280"/>
            <a:ext cx="2286000" cy="1005840"/>
          </a:xfrm>
          <a:prstGeom prst="rect">
            <a:avLst/>
          </a:prstGeom>
          <a:noFill/>
        </p:spPr>
        <p:txBody>
          <a:bodyPr wrap="square" anchor="t" lIns="36576" rIns="36576" tIns="27432" bIns="27432">
            <a:spAutoFit/>
          </a:bodyPr>
          <a:lstStyle/>
          <a:p>
            <a:pPr algn="l">
              <a:lnSpc>
                <a:spcPct val="103000"/>
              </a:lnSpc>
            </a:pPr>
            <a:r>
              <a:rPr sz="1050" b="0" i="0">
                <a:solidFill>
                  <a:srgbClr val="272525"/>
                </a:solidFill>
                <a:latin typeface="Calibri"/>
              </a:rPr>
              <a:t>Detect presence and a coarse location from a single TX→RX link.</a:t>
            </a:r>
          </a:p>
        </p:txBody>
      </p:sp>
      <p:sp>
        <p:nvSpPr>
          <p:cNvPr id="9" name="Rectangle 8"/>
          <p:cNvSpPr/>
          <p:nvPr/>
        </p:nvSpPr>
        <p:spPr>
          <a:xfrm>
            <a:off x="676656" y="3310128"/>
            <a:ext cx="2249424" cy="18288"/>
          </a:xfrm>
          <a:prstGeom prst="rect">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3364992"/>
            <a:ext cx="2286000" cy="292608"/>
          </a:xfrm>
          <a:prstGeom prst="rect">
            <a:avLst/>
          </a:prstGeom>
          <a:noFill/>
        </p:spPr>
        <p:txBody>
          <a:bodyPr wrap="square" anchor="t" lIns="36576" rIns="36576" tIns="27432" bIns="27432">
            <a:spAutoFit/>
          </a:bodyPr>
          <a:lstStyle/>
          <a:p>
            <a:pPr algn="l"/>
            <a:r>
              <a:rPr sz="1150" b="1" i="0">
                <a:solidFill>
                  <a:srgbClr val="4472C4"/>
                </a:solidFill>
                <a:latin typeface="Calibri"/>
              </a:rPr>
              <a:t>✓  presence 100%</a:t>
            </a:r>
          </a:p>
        </p:txBody>
      </p:sp>
      <p:sp>
        <p:nvSpPr>
          <p:cNvPr id="11" name="Rounded Rectangle 10"/>
          <p:cNvSpPr/>
          <p:nvPr/>
        </p:nvSpPr>
        <p:spPr>
          <a:xfrm>
            <a:off x="3264408" y="1207008"/>
            <a:ext cx="2615184" cy="2514600"/>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1353312"/>
            <a:ext cx="2286000" cy="219456"/>
          </a:xfrm>
          <a:prstGeom prst="rect">
            <a:avLst/>
          </a:prstGeom>
          <a:noFill/>
        </p:spPr>
        <p:txBody>
          <a:bodyPr wrap="square" anchor="t" lIns="36576" rIns="36576" tIns="27432" bIns="27432">
            <a:spAutoFit/>
          </a:bodyPr>
          <a:lstStyle/>
          <a:p>
            <a:pPr algn="l"/>
            <a:r>
              <a:rPr sz="1000" b="1" i="0">
                <a:solidFill>
                  <a:srgbClr val="4472C4"/>
                </a:solidFill>
                <a:latin typeface="Calibri"/>
              </a:rPr>
              <a:t>PHASE 2</a:t>
            </a:r>
          </a:p>
        </p:txBody>
      </p:sp>
      <p:sp>
        <p:nvSpPr>
          <p:cNvPr id="13" name="TextBox 12"/>
          <p:cNvSpPr txBox="1"/>
          <p:nvPr/>
        </p:nvSpPr>
        <p:spPr>
          <a:xfrm>
            <a:off x="3447288" y="1591056"/>
            <a:ext cx="2286000" cy="548640"/>
          </a:xfrm>
          <a:prstGeom prst="rect">
            <a:avLst/>
          </a:prstGeom>
          <a:noFill/>
        </p:spPr>
        <p:txBody>
          <a:bodyPr wrap="square" anchor="t" lIns="36576" rIns="36576" tIns="27432" bIns="27432">
            <a:spAutoFit/>
          </a:bodyPr>
          <a:lstStyle/>
          <a:p>
            <a:pPr algn="l"/>
            <a:r>
              <a:rPr sz="1350" b="1" i="0">
                <a:solidFill>
                  <a:srgbClr val="272525"/>
                </a:solidFill>
                <a:latin typeface="Calibri Light"/>
              </a:rPr>
              <a:t>Multi‑node sensing</a:t>
            </a:r>
          </a:p>
        </p:txBody>
      </p:sp>
      <p:sp>
        <p:nvSpPr>
          <p:cNvPr id="14" name="TextBox 13"/>
          <p:cNvSpPr txBox="1"/>
          <p:nvPr/>
        </p:nvSpPr>
        <p:spPr>
          <a:xfrm>
            <a:off x="3447288" y="2240280"/>
            <a:ext cx="2286000" cy="1005840"/>
          </a:xfrm>
          <a:prstGeom prst="rect">
            <a:avLst/>
          </a:prstGeom>
          <a:noFill/>
        </p:spPr>
        <p:txBody>
          <a:bodyPr wrap="square" anchor="t" lIns="36576" rIns="36576" tIns="27432" bIns="27432">
            <a:spAutoFit/>
          </a:bodyPr>
          <a:lstStyle/>
          <a:p>
            <a:pPr algn="l">
              <a:lnSpc>
                <a:spcPct val="103000"/>
              </a:lnSpc>
            </a:pPr>
            <a:r>
              <a:rPr sz="1050" b="0" i="0">
                <a:solidFill>
                  <a:srgbClr val="272525"/>
                </a:solidFill>
                <a:latin typeface="Calibri"/>
              </a:rPr>
              <a:t>Fuse all links; crossing viewpoints triangulate the target.</a:t>
            </a:r>
          </a:p>
        </p:txBody>
      </p:sp>
      <p:sp>
        <p:nvSpPr>
          <p:cNvPr id="15" name="Rectangle 14"/>
          <p:cNvSpPr/>
          <p:nvPr/>
        </p:nvSpPr>
        <p:spPr>
          <a:xfrm>
            <a:off x="3447288" y="3310128"/>
            <a:ext cx="2249424" cy="18288"/>
          </a:xfrm>
          <a:prstGeom prst="rect">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47288" y="3364992"/>
            <a:ext cx="2286000" cy="292608"/>
          </a:xfrm>
          <a:prstGeom prst="rect">
            <a:avLst/>
          </a:prstGeom>
          <a:noFill/>
        </p:spPr>
        <p:txBody>
          <a:bodyPr wrap="square" anchor="t" lIns="36576" rIns="36576" tIns="27432" bIns="27432">
            <a:spAutoFit/>
          </a:bodyPr>
          <a:lstStyle/>
          <a:p>
            <a:pPr algn="l"/>
            <a:r>
              <a:rPr sz="1150" b="1" i="0">
                <a:solidFill>
                  <a:srgbClr val="4472C4"/>
                </a:solidFill>
                <a:latin typeface="Calibri"/>
              </a:rPr>
              <a:t>✓  error 1.14 → 0.60 m</a:t>
            </a:r>
          </a:p>
        </p:txBody>
      </p:sp>
      <p:sp>
        <p:nvSpPr>
          <p:cNvPr id="17" name="Rounded Rectangle 16"/>
          <p:cNvSpPr/>
          <p:nvPr/>
        </p:nvSpPr>
        <p:spPr>
          <a:xfrm>
            <a:off x="6035040" y="1207008"/>
            <a:ext cx="2615184" cy="2514600"/>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353312"/>
            <a:ext cx="2286000" cy="219456"/>
          </a:xfrm>
          <a:prstGeom prst="rect">
            <a:avLst/>
          </a:prstGeom>
          <a:noFill/>
        </p:spPr>
        <p:txBody>
          <a:bodyPr wrap="square" anchor="t" lIns="36576" rIns="36576" tIns="27432" bIns="27432">
            <a:spAutoFit/>
          </a:bodyPr>
          <a:lstStyle/>
          <a:p>
            <a:pPr algn="l"/>
            <a:r>
              <a:rPr sz="1000" b="1" i="0">
                <a:solidFill>
                  <a:srgbClr val="4472C4"/>
                </a:solidFill>
                <a:latin typeface="Calibri"/>
              </a:rPr>
              <a:t>PHASE 3</a:t>
            </a:r>
          </a:p>
        </p:txBody>
      </p:sp>
      <p:sp>
        <p:nvSpPr>
          <p:cNvPr id="19" name="TextBox 18"/>
          <p:cNvSpPr txBox="1"/>
          <p:nvPr/>
        </p:nvSpPr>
        <p:spPr>
          <a:xfrm>
            <a:off x="6217920" y="1591056"/>
            <a:ext cx="2286000" cy="548640"/>
          </a:xfrm>
          <a:prstGeom prst="rect">
            <a:avLst/>
          </a:prstGeom>
          <a:noFill/>
        </p:spPr>
        <p:txBody>
          <a:bodyPr wrap="square" anchor="t" lIns="36576" rIns="36576" tIns="27432" bIns="27432">
            <a:spAutoFit/>
          </a:bodyPr>
          <a:lstStyle/>
          <a:p>
            <a:pPr algn="l"/>
            <a:r>
              <a:rPr sz="1350" b="1" i="0">
                <a:solidFill>
                  <a:srgbClr val="272525"/>
                </a:solidFill>
                <a:latin typeface="Calibri Light"/>
              </a:rPr>
              <a:t>Room boundary estimation</a:t>
            </a:r>
          </a:p>
        </p:txBody>
      </p:sp>
      <p:sp>
        <p:nvSpPr>
          <p:cNvPr id="20" name="TextBox 19"/>
          <p:cNvSpPr txBox="1"/>
          <p:nvPr/>
        </p:nvSpPr>
        <p:spPr>
          <a:xfrm>
            <a:off x="6217920" y="2240280"/>
            <a:ext cx="2286000" cy="1005840"/>
          </a:xfrm>
          <a:prstGeom prst="rect">
            <a:avLst/>
          </a:prstGeom>
          <a:noFill/>
        </p:spPr>
        <p:txBody>
          <a:bodyPr wrap="square" anchor="t" lIns="36576" rIns="36576" tIns="27432" bIns="27432">
            <a:spAutoFit/>
          </a:bodyPr>
          <a:lstStyle/>
          <a:p>
            <a:pPr algn="l">
              <a:lnSpc>
                <a:spcPct val="103000"/>
              </a:lnSpc>
            </a:pPr>
            <a:r>
              <a:rPr sz="1050" b="0" i="0">
                <a:solidFill>
                  <a:srgbClr val="272525"/>
                </a:solidFill>
                <a:latin typeface="Calibri"/>
              </a:rPr>
              <a:t>Invert wall echoes (ellipse back‑projection) into a floor outline.</a:t>
            </a:r>
          </a:p>
        </p:txBody>
      </p:sp>
      <p:sp>
        <p:nvSpPr>
          <p:cNvPr id="21" name="Rectangle 20"/>
          <p:cNvSpPr/>
          <p:nvPr/>
        </p:nvSpPr>
        <p:spPr>
          <a:xfrm>
            <a:off x="6217920" y="3310128"/>
            <a:ext cx="2249424" cy="18288"/>
          </a:xfrm>
          <a:prstGeom prst="rect">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364992"/>
            <a:ext cx="2286000" cy="292608"/>
          </a:xfrm>
          <a:prstGeom prst="rect">
            <a:avLst/>
          </a:prstGeom>
          <a:noFill/>
        </p:spPr>
        <p:txBody>
          <a:bodyPr wrap="square" anchor="t" lIns="36576" rIns="36576" tIns="27432" bIns="27432">
            <a:spAutoFit/>
          </a:bodyPr>
          <a:lstStyle/>
          <a:p>
            <a:pPr algn="l"/>
            <a:r>
              <a:rPr sz="1150" b="1" i="0">
                <a:solidFill>
                  <a:srgbClr val="4472C4"/>
                </a:solidFill>
                <a:latin typeface="Calibri"/>
              </a:rPr>
              <a:t>✓  boundary IoU ≈ 0.61</a:t>
            </a:r>
          </a:p>
        </p:txBody>
      </p:sp>
      <p:sp>
        <p:nvSpPr>
          <p:cNvPr id="23" name="Rounded Rectangle 22"/>
          <p:cNvSpPr/>
          <p:nvPr/>
        </p:nvSpPr>
        <p:spPr>
          <a:xfrm>
            <a:off x="493776" y="3977639"/>
            <a:ext cx="8138160" cy="603504"/>
          </a:xfrm>
          <a:prstGeom prst="roundRect">
            <a:avLst>
              <a:gd name="adj" fmla="val 6000"/>
            </a:avLst>
          </a:prstGeom>
          <a:solidFill>
            <a:srgbClr val="B2D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114800"/>
            <a:ext cx="7772400" cy="365760"/>
          </a:xfrm>
          <a:prstGeom prst="rect">
            <a:avLst/>
          </a:prstGeom>
          <a:noFill/>
        </p:spPr>
        <p:txBody>
          <a:bodyPr wrap="square" anchor="t" lIns="36576" rIns="36576" tIns="27432" bIns="27432">
            <a:spAutoFit/>
          </a:bodyPr>
          <a:lstStyle/>
          <a:p>
            <a:pPr algn="l"/>
            <a:r>
              <a:rPr sz="1100" b="1" i="0">
                <a:solidFill>
                  <a:srgbClr val="272525"/>
                </a:solidFill>
                <a:latin typeface="Calibri"/>
              </a:rPr>
              <a:t>Roadmap:   </a:t>
            </a:r>
            <a:r>
              <a:rPr sz="1100" b="0" i="0">
                <a:solidFill>
                  <a:srgbClr val="272525"/>
                </a:solidFill>
                <a:latin typeface="Calibri"/>
              </a:rPr>
              <a:t>1 Detection ✓    2 Multi‑node ✓    3 Boundary ✓    4 Floor‑plan (next)    5 Real‑time (planned)</a:t>
            </a:r>
          </a:p>
        </p:txBody>
      </p:sp>
      <p:sp>
        <p:nvSpPr>
          <p:cNvPr id="25" name="TextBox 24"/>
          <p:cNvSpPr txBox="1"/>
          <p:nvPr/>
        </p:nvSpPr>
        <p:spPr>
          <a:xfrm>
            <a:off x="493776" y="4837176"/>
            <a:ext cx="5486400" cy="256032"/>
          </a:xfrm>
          <a:prstGeom prst="rect">
            <a:avLst/>
          </a:prstGeom>
          <a:noFill/>
        </p:spPr>
        <p:txBody>
          <a:bodyPr wrap="square" anchor="t" lIns="36576" rIns="36576" tIns="27432" bIns="27432">
            <a:spAutoFit/>
          </a:bodyPr>
          <a:lstStyle/>
          <a:p>
            <a:pPr algn="l"/>
            <a:r>
              <a:rPr sz="800" b="0" i="0">
                <a:solidFill>
                  <a:srgbClr val="8A8A8A"/>
                </a:solidFill>
                <a:latin typeface="Calibri"/>
              </a:rPr>
              <a:t>Wi‑Fi CSI Spatial Mapping  ·  Progress Review 2</a:t>
            </a:r>
          </a:p>
        </p:txBody>
      </p:sp>
      <p:sp>
        <p:nvSpPr>
          <p:cNvPr id="26" name="TextBox 25"/>
          <p:cNvSpPr txBox="1"/>
          <p:nvPr/>
        </p:nvSpPr>
        <p:spPr>
          <a:xfrm>
            <a:off x="8138160" y="4837176"/>
            <a:ext cx="731520" cy="256032"/>
          </a:xfrm>
          <a:prstGeom prst="rect">
            <a:avLst/>
          </a:prstGeom>
          <a:noFill/>
        </p:spPr>
        <p:txBody>
          <a:bodyPr wrap="square" anchor="t" lIns="36576" rIns="36576" tIns="27432" bIns="27432">
            <a:spAutoFit/>
          </a:bodyPr>
          <a:lstStyle/>
          <a:p>
            <a:pPr algn="r"/>
            <a:r>
              <a:rPr sz="800" b="0" i="0">
                <a:solidFill>
                  <a:srgbClr val="8A8A8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329184"/>
            <a:ext cx="8138160" cy="603504"/>
          </a:xfrm>
          <a:prstGeom prst="rect">
            <a:avLst/>
          </a:prstGeom>
          <a:noFill/>
        </p:spPr>
        <p:txBody>
          <a:bodyPr wrap="square" anchor="t" lIns="36576" rIns="36576" tIns="27432" bIns="27432">
            <a:spAutoFit/>
          </a:bodyPr>
          <a:lstStyle/>
          <a:p>
            <a:pPr algn="l"/>
            <a:r>
              <a:rPr sz="2800" b="0" i="0">
                <a:solidFill>
                  <a:srgbClr val="000000"/>
                </a:solidFill>
                <a:latin typeface="Calibri Light"/>
              </a:rPr>
              <a:t>Results &amp; Live Demo</a:t>
            </a:r>
          </a:p>
        </p:txBody>
      </p:sp>
      <p:sp>
        <p:nvSpPr>
          <p:cNvPr id="4" name="Rectangle 3"/>
          <p:cNvSpPr/>
          <p:nvPr/>
        </p:nvSpPr>
        <p:spPr>
          <a:xfrm>
            <a:off x="512064" y="950976"/>
            <a:ext cx="77724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_error_vs_nodes.png"/>
          <p:cNvPicPr>
            <a:picLocks noChangeAspect="1"/>
          </p:cNvPicPr>
          <p:nvPr/>
        </p:nvPicPr>
        <p:blipFill>
          <a:blip r:embed="rId2"/>
          <a:stretch>
            <a:fillRect/>
          </a:stretch>
        </p:blipFill>
        <p:spPr>
          <a:xfrm>
            <a:off x="457200" y="1234440"/>
            <a:ext cx="4343400" cy="2605142"/>
          </a:xfrm>
          <a:prstGeom prst="rect">
            <a:avLst/>
          </a:prstGeom>
        </p:spPr>
      </p:pic>
      <p:sp>
        <p:nvSpPr>
          <p:cNvPr id="6" name="TextBox 5"/>
          <p:cNvSpPr txBox="1"/>
          <p:nvPr/>
        </p:nvSpPr>
        <p:spPr>
          <a:xfrm>
            <a:off x="4983480" y="1371600"/>
            <a:ext cx="3749039" cy="2103120"/>
          </a:xfrm>
          <a:prstGeom prst="rect">
            <a:avLst/>
          </a:prstGeom>
          <a:noFill/>
        </p:spPr>
        <p:txBody>
          <a:bodyPr wrap="square" anchor="t" lIns="36576" rIns="36576" tIns="27432" bIns="27432">
            <a:spAutoFit/>
          </a:bodyPr>
          <a:lstStyle/>
          <a:p>
            <a:pPr algn="l">
              <a:lnSpc>
                <a:spcPct val="105000"/>
              </a:lnSpc>
              <a:spcAft>
                <a:spcPts val="1000"/>
              </a:spcAft>
            </a:pPr>
            <a:r>
              <a:rPr sz="1200" b="1" i="0">
                <a:solidFill>
                  <a:srgbClr val="4472C4"/>
                </a:solidFill>
                <a:latin typeface="Calibri"/>
              </a:rPr>
              <a:t>▸  </a:t>
            </a:r>
            <a:r>
              <a:rPr sz="1150" b="1" i="0">
                <a:solidFill>
                  <a:srgbClr val="272525"/>
                </a:solidFill>
                <a:latin typeface="Calibri"/>
              </a:rPr>
              <a:t>Phase 2:</a:t>
            </a:r>
            <a:r>
              <a:rPr sz="1150" b="0" i="0">
                <a:solidFill>
                  <a:srgbClr val="272525"/>
                </a:solidFill>
                <a:latin typeface="Calibri"/>
              </a:rPr>
              <a:t> 4‑node fusion nearly halves single‑link error (0.60 m vs 1.14 m).</a:t>
            </a:r>
          </a:p>
          <a:p>
            <a:pPr algn="l">
              <a:lnSpc>
                <a:spcPct val="105000"/>
              </a:lnSpc>
              <a:spcAft>
                <a:spcPts val="1000"/>
              </a:spcAft>
            </a:pPr>
            <a:r>
              <a:rPr sz="1200" b="1" i="0">
                <a:solidFill>
                  <a:srgbClr val="4472C4"/>
                </a:solidFill>
                <a:latin typeface="Calibri"/>
              </a:rPr>
              <a:t>▸  </a:t>
            </a:r>
            <a:r>
              <a:rPr sz="1150" b="1" i="0">
                <a:solidFill>
                  <a:srgbClr val="272525"/>
                </a:solidFill>
                <a:latin typeface="Calibri"/>
              </a:rPr>
              <a:t>Phase 3:</a:t>
            </a:r>
            <a:r>
              <a:rPr sz="1150" b="0" i="0">
                <a:solidFill>
                  <a:srgbClr val="272525"/>
                </a:solidFill>
                <a:latin typeface="Calibri"/>
              </a:rPr>
              <a:t> room boundary IoU ≈ 0.61 (estimated 5.25×3.62 m vs true 5×4 m).</a:t>
            </a:r>
          </a:p>
          <a:p>
            <a:pPr algn="l">
              <a:lnSpc>
                <a:spcPct val="105000"/>
              </a:lnSpc>
              <a:spcAft>
                <a:spcPts val="1000"/>
              </a:spcAft>
            </a:pPr>
            <a:r>
              <a:rPr sz="1200" b="1" i="0">
                <a:solidFill>
                  <a:srgbClr val="4472C4"/>
                </a:solidFill>
                <a:latin typeface="Calibri"/>
              </a:rPr>
              <a:t>▸  </a:t>
            </a:r>
            <a:r>
              <a:rPr sz="1150" b="1" i="0">
                <a:solidFill>
                  <a:srgbClr val="272525"/>
                </a:solidFill>
                <a:latin typeface="Calibri"/>
              </a:rPr>
              <a:t>Live demo:</a:t>
            </a:r>
            <a:r>
              <a:rPr sz="1150" b="0" i="0">
                <a:solidFill>
                  <a:srgbClr val="272525"/>
                </a:solidFill>
                <a:latin typeface="Calibri"/>
              </a:rPr>
              <a:t> tracks a moving obstacle to ≈ 0.3 m — FastAPI + WebSocket + HTML5 Canvas.</a:t>
            </a:r>
          </a:p>
        </p:txBody>
      </p:sp>
      <p:sp>
        <p:nvSpPr>
          <p:cNvPr id="7" name="Rounded Rectangle 6"/>
          <p:cNvSpPr/>
          <p:nvPr/>
        </p:nvSpPr>
        <p:spPr>
          <a:xfrm>
            <a:off x="4983480" y="3611880"/>
            <a:ext cx="3749039" cy="960120"/>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48072" y="3730752"/>
            <a:ext cx="3474720" cy="777240"/>
          </a:xfrm>
          <a:prstGeom prst="rect">
            <a:avLst/>
          </a:prstGeom>
          <a:noFill/>
        </p:spPr>
        <p:txBody>
          <a:bodyPr wrap="square" anchor="t" lIns="36576" rIns="36576" tIns="27432" bIns="27432">
            <a:spAutoFit/>
          </a:bodyPr>
          <a:lstStyle/>
          <a:p>
            <a:pPr algn="l">
              <a:lnSpc>
                <a:spcPct val="103000"/>
              </a:lnSpc>
            </a:pPr>
            <a:r>
              <a:rPr sz="1050" b="1" i="0">
                <a:solidFill>
                  <a:srgbClr val="4472C4"/>
                </a:solidFill>
                <a:latin typeface="Calibri"/>
              </a:rPr>
              <a:t>Honest scope:  </a:t>
            </a:r>
            <a:r>
              <a:rPr sz="1050" b="0" i="0">
                <a:solidFill>
                  <a:srgbClr val="272525"/>
                </a:solidFill>
                <a:latin typeface="Calibri"/>
              </a:rPr>
              <a:t>results are validated in physics simulation. Next step is real Wi‑Fi router captures across the room.</a:t>
            </a:r>
          </a:p>
        </p:txBody>
      </p:sp>
      <p:sp>
        <p:nvSpPr>
          <p:cNvPr id="9" name="TextBox 8"/>
          <p:cNvSpPr txBox="1"/>
          <p:nvPr/>
        </p:nvSpPr>
        <p:spPr>
          <a:xfrm>
            <a:off x="493776" y="4837176"/>
            <a:ext cx="5486400" cy="256032"/>
          </a:xfrm>
          <a:prstGeom prst="rect">
            <a:avLst/>
          </a:prstGeom>
          <a:noFill/>
        </p:spPr>
        <p:txBody>
          <a:bodyPr wrap="square" anchor="t" lIns="36576" rIns="36576" tIns="27432" bIns="27432">
            <a:spAutoFit/>
          </a:bodyPr>
          <a:lstStyle/>
          <a:p>
            <a:pPr algn="l"/>
            <a:r>
              <a:rPr sz="800" b="0" i="0">
                <a:solidFill>
                  <a:srgbClr val="8A8A8A"/>
                </a:solidFill>
                <a:latin typeface="Calibri"/>
              </a:rPr>
              <a:t>Wi‑Fi CSI Spatial Mapping  ·  Progress Review 2</a:t>
            </a:r>
          </a:p>
        </p:txBody>
      </p:sp>
      <p:sp>
        <p:nvSpPr>
          <p:cNvPr id="10" name="TextBox 9"/>
          <p:cNvSpPr txBox="1"/>
          <p:nvPr/>
        </p:nvSpPr>
        <p:spPr>
          <a:xfrm>
            <a:off x="8138160" y="4837176"/>
            <a:ext cx="731520" cy="256032"/>
          </a:xfrm>
          <a:prstGeom prst="rect">
            <a:avLst/>
          </a:prstGeom>
          <a:noFill/>
        </p:spPr>
        <p:txBody>
          <a:bodyPr wrap="square" anchor="t" lIns="36576" rIns="36576" tIns="27432" bIns="27432">
            <a:spAutoFit/>
          </a:bodyPr>
          <a:lstStyle/>
          <a:p>
            <a:pPr algn="r"/>
            <a:r>
              <a:rPr sz="800" b="0" i="0">
                <a:solidFill>
                  <a:srgbClr val="8A8A8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329184"/>
            <a:ext cx="8138160" cy="603504"/>
          </a:xfrm>
          <a:prstGeom prst="rect">
            <a:avLst/>
          </a:prstGeom>
          <a:noFill/>
        </p:spPr>
        <p:txBody>
          <a:bodyPr wrap="square" anchor="t" lIns="36576" rIns="36576" tIns="27432" bIns="27432">
            <a:spAutoFit/>
          </a:bodyPr>
          <a:lstStyle/>
          <a:p>
            <a:pPr algn="l"/>
            <a:r>
              <a:rPr sz="2800" b="0" i="0">
                <a:solidFill>
                  <a:srgbClr val="000000"/>
                </a:solidFill>
                <a:latin typeface="Calibri Light"/>
              </a:rPr>
              <a:t>Literature Review</a:t>
            </a:r>
          </a:p>
        </p:txBody>
      </p:sp>
      <p:sp>
        <p:nvSpPr>
          <p:cNvPr id="4" name="Rectangle 3"/>
          <p:cNvSpPr/>
          <p:nvPr/>
        </p:nvSpPr>
        <p:spPr>
          <a:xfrm>
            <a:off x="512064" y="950976"/>
            <a:ext cx="77724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93776" y="1170432"/>
            <a:ext cx="8138160" cy="749808"/>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89304"/>
            <a:ext cx="7772400" cy="548640"/>
          </a:xfrm>
          <a:prstGeom prst="rect">
            <a:avLst/>
          </a:prstGeom>
          <a:noFill/>
        </p:spPr>
        <p:txBody>
          <a:bodyPr wrap="square" anchor="ctr" lIns="36576" rIns="36576" tIns="27432" bIns="27432">
            <a:spAutoFit/>
          </a:bodyPr>
          <a:lstStyle/>
          <a:p>
            <a:pPr algn="l">
              <a:lnSpc>
                <a:spcPct val="102000"/>
              </a:lnSpc>
            </a:pPr>
            <a:r>
              <a:rPr sz="1100" b="1" i="0">
                <a:solidFill>
                  <a:srgbClr val="4472C4"/>
                </a:solidFill>
                <a:latin typeface="Calibri"/>
              </a:rPr>
              <a:t>▸  </a:t>
            </a:r>
            <a:r>
              <a:rPr sz="1100" b="0" i="0">
                <a:solidFill>
                  <a:srgbClr val="272525"/>
                </a:solidFill>
                <a:latin typeface="Calibri"/>
              </a:rPr>
              <a:t>Adib, F., Hsu, C. Y., Mao, H., Katabi, D., &amp; Durand, F. (2015). </a:t>
            </a:r>
            <a:r>
              <a:rPr sz="1100" b="0" i="1">
                <a:solidFill>
                  <a:srgbClr val="272525"/>
                </a:solidFill>
                <a:latin typeface="Calibri"/>
              </a:rPr>
              <a:t>Capturing the Human Figure Through a Wall</a:t>
            </a:r>
            <a:r>
              <a:rPr sz="1100" b="0" i="0">
                <a:solidFill>
                  <a:srgbClr val="272525"/>
                </a:solidFill>
                <a:latin typeface="Calibri"/>
              </a:rPr>
              <a:t>. ACM SIGGRAPH Asia 2015 Papers. Association for Computing Machinery.</a:t>
            </a:r>
          </a:p>
        </p:txBody>
      </p:sp>
      <p:sp>
        <p:nvSpPr>
          <p:cNvPr id="7" name="Rounded Rectangle 6"/>
          <p:cNvSpPr/>
          <p:nvPr/>
        </p:nvSpPr>
        <p:spPr>
          <a:xfrm>
            <a:off x="493776" y="2029967"/>
            <a:ext cx="8138160" cy="749808"/>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148839"/>
            <a:ext cx="7772400" cy="548640"/>
          </a:xfrm>
          <a:prstGeom prst="rect">
            <a:avLst/>
          </a:prstGeom>
          <a:noFill/>
        </p:spPr>
        <p:txBody>
          <a:bodyPr wrap="square" anchor="ctr" lIns="36576" rIns="36576" tIns="27432" bIns="27432">
            <a:spAutoFit/>
          </a:bodyPr>
          <a:lstStyle/>
          <a:p>
            <a:pPr algn="l">
              <a:lnSpc>
                <a:spcPct val="102000"/>
              </a:lnSpc>
            </a:pPr>
            <a:r>
              <a:rPr sz="1100" b="1" i="0">
                <a:solidFill>
                  <a:srgbClr val="4472C4"/>
                </a:solidFill>
                <a:latin typeface="Calibri"/>
              </a:rPr>
              <a:t>▸  </a:t>
            </a:r>
            <a:r>
              <a:rPr sz="1100" b="0" i="0">
                <a:solidFill>
                  <a:srgbClr val="272525"/>
                </a:solidFill>
                <a:latin typeface="Calibri"/>
              </a:rPr>
              <a:t>Hernandez, S. M., &amp; Bulut, E. (2022). </a:t>
            </a:r>
            <a:r>
              <a:rPr sz="1100" b="0" i="1">
                <a:solidFill>
                  <a:srgbClr val="272525"/>
                </a:solidFill>
                <a:latin typeface="Calibri"/>
              </a:rPr>
              <a:t>Lightweight and Standalone IoT Based WiFi Sensing for Active Occupancy Detection</a:t>
            </a:r>
            <a:r>
              <a:rPr sz="1100" b="0" i="0">
                <a:solidFill>
                  <a:srgbClr val="272525"/>
                </a:solidFill>
                <a:latin typeface="Calibri"/>
              </a:rPr>
              <a:t>. IEEE International Conference on Communications (ICC).</a:t>
            </a:r>
          </a:p>
        </p:txBody>
      </p:sp>
      <p:sp>
        <p:nvSpPr>
          <p:cNvPr id="9" name="Rounded Rectangle 8"/>
          <p:cNvSpPr/>
          <p:nvPr/>
        </p:nvSpPr>
        <p:spPr>
          <a:xfrm>
            <a:off x="493776" y="2889503"/>
            <a:ext cx="8138160" cy="749808"/>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08375"/>
            <a:ext cx="7772400" cy="548640"/>
          </a:xfrm>
          <a:prstGeom prst="rect">
            <a:avLst/>
          </a:prstGeom>
          <a:noFill/>
        </p:spPr>
        <p:txBody>
          <a:bodyPr wrap="square" anchor="ctr" lIns="36576" rIns="36576" tIns="27432" bIns="27432">
            <a:spAutoFit/>
          </a:bodyPr>
          <a:lstStyle/>
          <a:p>
            <a:pPr algn="l">
              <a:lnSpc>
                <a:spcPct val="102000"/>
              </a:lnSpc>
            </a:pPr>
            <a:r>
              <a:rPr sz="1100" b="1" i="0">
                <a:solidFill>
                  <a:srgbClr val="4472C4"/>
                </a:solidFill>
                <a:latin typeface="Calibri"/>
              </a:rPr>
              <a:t>▸  </a:t>
            </a:r>
            <a:r>
              <a:rPr sz="1100" b="0" i="0">
                <a:solidFill>
                  <a:srgbClr val="272525"/>
                </a:solidFill>
                <a:latin typeface="Calibri"/>
              </a:rPr>
              <a:t>Wang, X., Gao, L., Mao, S., &amp; Pandey, S. (2015). </a:t>
            </a:r>
            <a:r>
              <a:rPr sz="1100" b="0" i="1">
                <a:solidFill>
                  <a:srgbClr val="272525"/>
                </a:solidFill>
                <a:latin typeface="Calibri"/>
              </a:rPr>
              <a:t>CSI‑Based Fingerprinting for Indoor Hidden Node Problem</a:t>
            </a:r>
            <a:r>
              <a:rPr sz="1100" b="0" i="0">
                <a:solidFill>
                  <a:srgbClr val="272525"/>
                </a:solidFill>
                <a:latin typeface="Calibri"/>
              </a:rPr>
              <a:t>. IEEE Transactions on Vehicular Technology, 64(8), 3565–3576.</a:t>
            </a:r>
          </a:p>
        </p:txBody>
      </p:sp>
      <p:sp>
        <p:nvSpPr>
          <p:cNvPr id="11" name="Rounded Rectangle 10"/>
          <p:cNvSpPr/>
          <p:nvPr/>
        </p:nvSpPr>
        <p:spPr>
          <a:xfrm>
            <a:off x="493776" y="3749039"/>
            <a:ext cx="8138160" cy="749808"/>
          </a:xfrm>
          <a:prstGeom prst="roundRect">
            <a:avLst>
              <a:gd name="adj" fmla="val 6000"/>
            </a:avLst>
          </a:prstGeom>
          <a:solidFill>
            <a:srgbClr val="C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867911"/>
            <a:ext cx="7772400" cy="548640"/>
          </a:xfrm>
          <a:prstGeom prst="rect">
            <a:avLst/>
          </a:prstGeom>
          <a:noFill/>
        </p:spPr>
        <p:txBody>
          <a:bodyPr wrap="square" anchor="ctr" lIns="36576" rIns="36576" tIns="27432" bIns="27432">
            <a:spAutoFit/>
          </a:bodyPr>
          <a:lstStyle/>
          <a:p>
            <a:pPr algn="l">
              <a:lnSpc>
                <a:spcPct val="102000"/>
              </a:lnSpc>
            </a:pPr>
            <a:r>
              <a:rPr sz="1100" b="1" i="0">
                <a:solidFill>
                  <a:srgbClr val="4472C4"/>
                </a:solidFill>
                <a:latin typeface="Calibri"/>
              </a:rPr>
              <a:t>▸  </a:t>
            </a:r>
            <a:r>
              <a:rPr sz="1100" b="0" i="0">
                <a:solidFill>
                  <a:srgbClr val="272525"/>
                </a:solidFill>
                <a:latin typeface="Calibri"/>
              </a:rPr>
              <a:t>Wang, X., Gao, L., Mao, S., &amp; Pandey, S. (2015). </a:t>
            </a:r>
            <a:r>
              <a:rPr sz="1100" b="0" i="1">
                <a:solidFill>
                  <a:srgbClr val="272525"/>
                </a:solidFill>
                <a:latin typeface="Calibri"/>
              </a:rPr>
              <a:t>DeepFi: Deep Learning for Indoor Fingerprinting Using Channel State Information</a:t>
            </a:r>
            <a:r>
              <a:rPr sz="1100" b="0" i="0">
                <a:solidFill>
                  <a:srgbClr val="272525"/>
                </a:solidFill>
                <a:latin typeface="Calibri"/>
              </a:rPr>
              <a:t>. IEEE Wireless Communications and Networking Conference (WCNC).</a:t>
            </a:r>
          </a:p>
        </p:txBody>
      </p:sp>
      <p:sp>
        <p:nvSpPr>
          <p:cNvPr id="13" name="TextBox 12"/>
          <p:cNvSpPr txBox="1"/>
          <p:nvPr/>
        </p:nvSpPr>
        <p:spPr>
          <a:xfrm>
            <a:off x="493776" y="4837176"/>
            <a:ext cx="5486400" cy="256032"/>
          </a:xfrm>
          <a:prstGeom prst="rect">
            <a:avLst/>
          </a:prstGeom>
          <a:noFill/>
        </p:spPr>
        <p:txBody>
          <a:bodyPr wrap="square" anchor="t" lIns="36576" rIns="36576" tIns="27432" bIns="27432">
            <a:spAutoFit/>
          </a:bodyPr>
          <a:lstStyle/>
          <a:p>
            <a:pPr algn="l"/>
            <a:r>
              <a:rPr sz="800" b="0" i="0">
                <a:solidFill>
                  <a:srgbClr val="8A8A8A"/>
                </a:solidFill>
                <a:latin typeface="Calibri"/>
              </a:rPr>
              <a:t>Wi‑Fi CSI Spatial Mapping  ·  Progress Review 2</a:t>
            </a:r>
          </a:p>
        </p:txBody>
      </p:sp>
      <p:sp>
        <p:nvSpPr>
          <p:cNvPr id="14" name="TextBox 13"/>
          <p:cNvSpPr txBox="1"/>
          <p:nvPr/>
        </p:nvSpPr>
        <p:spPr>
          <a:xfrm>
            <a:off x="8138160" y="4837176"/>
            <a:ext cx="731520" cy="256032"/>
          </a:xfrm>
          <a:prstGeom prst="rect">
            <a:avLst/>
          </a:prstGeom>
          <a:noFill/>
        </p:spPr>
        <p:txBody>
          <a:bodyPr wrap="square" anchor="t" lIns="36576" rIns="36576" tIns="27432" bIns="27432">
            <a:spAutoFit/>
          </a:bodyPr>
          <a:lstStyle/>
          <a:p>
            <a:pPr algn="r"/>
            <a:r>
              <a:rPr sz="800" b="0" i="0">
                <a:solidFill>
                  <a:srgbClr val="8A8A8A"/>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